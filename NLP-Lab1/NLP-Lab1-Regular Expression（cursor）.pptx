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sldIdLst>
    <p:sldId id="256" r:id="rId2"/>
    <p:sldId id="948" r:id="rId3"/>
    <p:sldId id="949" r:id="rId4"/>
    <p:sldId id="950" r:id="rId5"/>
    <p:sldId id="951" r:id="rId6"/>
    <p:sldId id="952" r:id="rId7"/>
    <p:sldId id="953" r:id="rId8"/>
    <p:sldId id="954" r:id="rId9"/>
    <p:sldId id="955" r:id="rId10"/>
    <p:sldId id="956" r:id="rId11"/>
    <p:sldId id="957" r:id="rId12"/>
    <p:sldId id="958" r:id="rId13"/>
    <p:sldId id="959" r:id="rId14"/>
    <p:sldId id="961" r:id="rId15"/>
    <p:sldId id="960" r:id="rId16"/>
    <p:sldId id="962" r:id="rId17"/>
    <p:sldId id="963" r:id="rId18"/>
    <p:sldId id="964" r:id="rId19"/>
    <p:sldId id="965" r:id="rId20"/>
    <p:sldId id="966" r:id="rId21"/>
    <p:sldId id="967" r:id="rId22"/>
    <p:sldId id="875" r:id="rId23"/>
    <p:sldId id="901" r:id="rId24"/>
    <p:sldId id="876" r:id="rId25"/>
    <p:sldId id="877" r:id="rId26"/>
    <p:sldId id="878" r:id="rId27"/>
    <p:sldId id="879" r:id="rId28"/>
    <p:sldId id="880" r:id="rId29"/>
    <p:sldId id="881" r:id="rId30"/>
    <p:sldId id="882" r:id="rId31"/>
    <p:sldId id="883" r:id="rId32"/>
    <p:sldId id="884" r:id="rId33"/>
    <p:sldId id="885" r:id="rId34"/>
    <p:sldId id="886" r:id="rId35"/>
    <p:sldId id="887" r:id="rId36"/>
    <p:sldId id="888" r:id="rId37"/>
    <p:sldId id="890" r:id="rId38"/>
    <p:sldId id="946" r:id="rId39"/>
    <p:sldId id="892" r:id="rId40"/>
    <p:sldId id="893" r:id="rId41"/>
    <p:sldId id="947" r:id="rId42"/>
    <p:sldId id="895" r:id="rId43"/>
    <p:sldId id="896" r:id="rId44"/>
    <p:sldId id="897" r:id="rId45"/>
    <p:sldId id="898" r:id="rId46"/>
    <p:sldId id="899" r:id="rId47"/>
    <p:sldId id="296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FCF6F8"/>
    <a:srgbClr val="F2EDFD"/>
    <a:srgbClr val="FBEFF9"/>
    <a:srgbClr val="CC00FF"/>
    <a:srgbClr val="00CC5C"/>
    <a:srgbClr val="FF9900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94753"/>
  </p:normalViewPr>
  <p:slideViewPr>
    <p:cSldViewPr snapToGrid="0">
      <p:cViewPr varScale="1">
        <p:scale>
          <a:sx n="120" d="100"/>
          <a:sy n="120" d="100"/>
        </p:scale>
        <p:origin x="23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3505BC-CB21-4E77-9ADD-B2FFF279BFE0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EF7F9A-A17D-4EC5-BBD8-BFE45A6FE7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A202-6387-4073-A724-A06687BA9BB1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A202-6387-4073-A724-A06687BA9BB1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A202-6387-4073-A724-A06687BA9BB1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A202-6387-4073-A724-A06687BA9BB1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A202-6387-4073-A724-A06687BA9BB1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A202-6387-4073-A724-A06687BA9BB1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A202-6387-4073-A724-A06687BA9BB1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A202-6387-4073-A724-A06687BA9BB1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A202-6387-4073-A724-A06687BA9BB1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A202-6387-4073-A724-A06687BA9BB1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A202-6387-4073-A724-A06687BA9BB1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FA202-6387-4073-A724-A06687BA9BB1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mirrors.tuna.tsinghua.edu.cn/anaconda/archive/" TargetMode="External"/><Relationship Id="rId4" Type="http://schemas.openxmlformats.org/officeDocument/2006/relationships/hyperlink" Target="https://www.anaconda.com/download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ursordocs.com/docs" TargetMode="External"/><Relationship Id="rId4" Type="http://schemas.openxmlformats.org/officeDocument/2006/relationships/hyperlink" Target="https://cursor.com/cn/downloads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858703"/>
            <a:ext cx="9144000" cy="997770"/>
          </a:xfrm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自然语言处理与实践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39992" y="4219368"/>
            <a:ext cx="7538204" cy="997770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L1: Text Expressions</a:t>
            </a:r>
          </a:p>
        </p:txBody>
      </p:sp>
      <p:pic>
        <p:nvPicPr>
          <p:cNvPr id="4" name="图形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1304"/>
          <a:stretch>
            <a:fillRect/>
          </a:stretch>
        </p:blipFill>
        <p:spPr>
          <a:xfrm>
            <a:off x="5324010" y="1122363"/>
            <a:ext cx="970169" cy="9252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959567" y="5379978"/>
            <a:ext cx="169905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Spring  2025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下载安装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263958" y="1196398"/>
            <a:ext cx="9664083" cy="3266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官方下载地址：</a:t>
            </a:r>
            <a:b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hlinkClick r:id="rId4"/>
              </a:rPr>
              <a:t>https://www.anaconda.com/download</a:t>
            </a:r>
            <a:endParaRPr lang="en-GB" altLang="zh-CN" sz="2000" b="0" i="0" u="none" strike="noStrike" dirty="0">
              <a:solidFill>
                <a:srgbClr val="6795B5"/>
              </a:solidFill>
              <a:effectLst/>
              <a:latin typeface="-apple-system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清华镜像下载地址：</a:t>
            </a:r>
            <a:b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hlinkClick r:id="rId5"/>
              </a:rPr>
              <a:t>https://mirrors.tuna.tsinghua.edu.cn/anaconda/archive/</a:t>
            </a:r>
            <a:endParaRPr lang="en-GB" altLang="zh-CN" sz="2000" b="0" i="0" u="none" strike="noStrike" dirty="0">
              <a:solidFill>
                <a:srgbClr val="6795B5"/>
              </a:solidFill>
              <a:effectLst/>
              <a:latin typeface="-apple-system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588F83-59D0-D71A-231B-46B1FE5308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6163" y="3720093"/>
            <a:ext cx="8248153" cy="28764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下载安装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104287"/>
            <a:ext cx="9664083" cy="234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双击运行：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点击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【next】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D294EAD-C252-EAEB-80B1-AC804E951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3426" y="1731917"/>
            <a:ext cx="2975795" cy="2897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CA0F371-657D-3383-A6FB-AD2AAD26E8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3426" y="2875503"/>
            <a:ext cx="4667901" cy="35723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下载安装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104287"/>
            <a:ext cx="9664083" cy="5113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点击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【I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Agree】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B804579-C5ED-7F01-FA08-61C2761F7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185" y="2176546"/>
            <a:ext cx="5288110" cy="4041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下载安装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104287"/>
            <a:ext cx="9664083" cy="5113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选择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【All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Users】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，并点击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【Next】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FF4C2E-F23B-1998-D3EE-85D3DFEC7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738" y="2383149"/>
            <a:ext cx="5017767" cy="38347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下载安装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104287"/>
            <a:ext cx="9664083" cy="5113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选择安装位置，并点击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【Next】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35827" y="3661076"/>
            <a:ext cx="1940011" cy="317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975BA9-69D9-98C9-B8E2-7C67F8BBF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2067" y="1959142"/>
            <a:ext cx="5236345" cy="40394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下载安装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104287"/>
            <a:ext cx="9664083" cy="5113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选择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【Install】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后等待安装：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3132E4-EE2E-4007-FA0F-69179B4A8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39" y="2208967"/>
            <a:ext cx="4667901" cy="36009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DE10F9E-40AC-CBA3-9B64-DB42701FA9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762" y="2208967"/>
            <a:ext cx="4658375" cy="36009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下载安装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104287"/>
            <a:ext cx="9664083" cy="5113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点击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【Next】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，点击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【Finish】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，安装完成：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19109C-4C07-8A8E-90D2-B23B4468C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907" y="2429850"/>
            <a:ext cx="3931067" cy="303436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A83B1A5-FE83-E551-3E0A-9EE9EAA00A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356" y="2429850"/>
            <a:ext cx="3941466" cy="30343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环境配置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104287"/>
            <a:ext cx="9664083" cy="5575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i="0" u="none" strike="noStrike" dirty="0">
                <a:effectLst/>
                <a:latin typeface="-apple-system"/>
              </a:rPr>
              <a:t>在电脑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【</a:t>
            </a:r>
            <a:r>
              <a:rPr lang="zh-CN" altLang="en-US" sz="2000" b="0" i="0" u="none" strike="noStrike" dirty="0">
                <a:effectLst/>
                <a:latin typeface="-apple-system"/>
              </a:rPr>
              <a:t>设置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】</a:t>
            </a:r>
            <a:r>
              <a:rPr lang="zh-CN" altLang="en-US" sz="2000" b="0" i="0" u="none" strike="noStrike" dirty="0">
                <a:effectLst/>
                <a:latin typeface="-apple-system"/>
              </a:rPr>
              <a:t>里搜索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【</a:t>
            </a:r>
            <a:r>
              <a:rPr lang="zh-CN" altLang="en-US" sz="2000" b="0" i="0" u="none" strike="noStrike" dirty="0">
                <a:effectLst/>
                <a:latin typeface="-apple-system"/>
              </a:rPr>
              <a:t>环境变量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】</a:t>
            </a:r>
            <a:r>
              <a:rPr lang="zh-CN" altLang="en-US" sz="2000" b="0" i="0" u="none" strike="noStrike" dirty="0">
                <a:effectLst/>
                <a:latin typeface="-apple-system"/>
              </a:rPr>
              <a:t>，然后选择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【</a:t>
            </a:r>
            <a:r>
              <a:rPr lang="zh-CN" altLang="en-US" sz="2000" b="0" i="0" u="none" strike="noStrike" dirty="0">
                <a:effectLst/>
                <a:latin typeface="-apple-system"/>
              </a:rPr>
              <a:t>编辑系统环境变量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】</a:t>
            </a:r>
            <a:r>
              <a:rPr lang="zh-CN" altLang="en-US" sz="2000" b="0" i="0" u="none" strike="noStrike" dirty="0">
                <a:effectLst/>
                <a:latin typeface="-apple-system"/>
              </a:rPr>
              <a:t>并打开</a:t>
            </a:r>
            <a:r>
              <a:rPr lang="zh-CN" altLang="en-US" sz="20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20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i="0" u="none" strike="noStrike" dirty="0">
                <a:effectLst/>
                <a:latin typeface="-apple-system"/>
              </a:rPr>
              <a:t>在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【</a:t>
            </a:r>
            <a:r>
              <a:rPr lang="zh-CN" altLang="en-US" sz="2000" b="0" i="0" u="none" strike="noStrike" dirty="0">
                <a:effectLst/>
                <a:latin typeface="-apple-system"/>
              </a:rPr>
              <a:t>高级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】</a:t>
            </a:r>
            <a:r>
              <a:rPr lang="zh-CN" altLang="en-US" sz="2000" b="0" i="0" u="none" strike="noStrike" dirty="0">
                <a:effectLst/>
                <a:latin typeface="-apple-system"/>
              </a:rPr>
              <a:t>下，点击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【</a:t>
            </a:r>
            <a:r>
              <a:rPr lang="zh-CN" altLang="en-US" sz="2000" b="0" i="0" u="none" strike="noStrike" dirty="0">
                <a:effectLst/>
                <a:latin typeface="-apple-system"/>
              </a:rPr>
              <a:t>环境变量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】</a:t>
            </a:r>
            <a:r>
              <a:rPr lang="zh-CN" altLang="en-US" sz="2000" dirty="0">
                <a:latin typeface="-apple-system"/>
              </a:rPr>
              <a:t>；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170" name="Picture 2" descr="在这里插入图片描述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41" b="-190"/>
          <a:stretch>
            <a:fillRect/>
          </a:stretch>
        </p:blipFill>
        <p:spPr bwMode="auto">
          <a:xfrm>
            <a:off x="1208336" y="2367607"/>
            <a:ext cx="4152717" cy="3731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在这里插入图片描述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955" y="1676713"/>
            <a:ext cx="4082577" cy="5113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箭头: 右 42"/>
          <p:cNvSpPr/>
          <p:nvPr/>
        </p:nvSpPr>
        <p:spPr>
          <a:xfrm>
            <a:off x="5855893" y="4233503"/>
            <a:ext cx="591457" cy="343043"/>
          </a:xfrm>
          <a:prstGeom prst="rightArrow">
            <a:avLst/>
          </a:prstGeom>
          <a:solidFill>
            <a:schemeClr val="accent5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环境配置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104287"/>
            <a:ext cx="9664083" cy="5575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i="0" u="none" strike="noStrike" dirty="0">
                <a:effectLst/>
                <a:latin typeface="-apple-system"/>
              </a:rPr>
              <a:t>双击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【</a:t>
            </a:r>
            <a:r>
              <a:rPr lang="zh-CN" altLang="en-US" sz="2000" b="0" i="0" u="none" strike="noStrike" dirty="0">
                <a:effectLst/>
                <a:latin typeface="-apple-system"/>
              </a:rPr>
              <a:t>系统变量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】</a:t>
            </a:r>
            <a:r>
              <a:rPr lang="zh-CN" altLang="en-US" sz="2000" b="0" i="0" u="none" strike="noStrike" dirty="0">
                <a:effectLst/>
                <a:latin typeface="-apple-system"/>
              </a:rPr>
              <a:t>中的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【</a:t>
            </a:r>
            <a:r>
              <a:rPr lang="en-GB" altLang="zh-CN" sz="2000" dirty="0">
                <a:latin typeface="-apple-system"/>
              </a:rPr>
              <a:t>Path</a:t>
            </a:r>
            <a:r>
              <a:rPr lang="en-GB" altLang="zh-CN" sz="2000" b="0" i="0" u="none" strike="noStrike" dirty="0">
                <a:effectLst/>
                <a:latin typeface="-apple-system"/>
              </a:rPr>
              <a:t>】</a:t>
            </a:r>
            <a:r>
              <a:rPr lang="zh-CN" altLang="en-US" sz="20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20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i="0" u="none" strike="noStrike" dirty="0">
                <a:effectLst/>
                <a:latin typeface="-apple-system"/>
              </a:rPr>
              <a:t>点击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【</a:t>
            </a:r>
            <a:r>
              <a:rPr lang="zh-CN" altLang="en-US" sz="2000" b="0" i="0" u="none" strike="noStrike" dirty="0">
                <a:effectLst/>
                <a:latin typeface="-apple-system"/>
              </a:rPr>
              <a:t>新建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】</a:t>
            </a:r>
            <a:r>
              <a:rPr lang="zh-CN" altLang="en-US" sz="2000" b="0" i="0" u="none" strike="noStrike" dirty="0">
                <a:effectLst/>
                <a:latin typeface="-apple-system"/>
              </a:rPr>
              <a:t>，并依次加入下面变量，最后点击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【</a:t>
            </a:r>
            <a:r>
              <a:rPr lang="zh-CN" altLang="en-US" sz="2000" b="0" i="0" u="none" strike="noStrike" dirty="0">
                <a:effectLst/>
                <a:latin typeface="-apple-system"/>
              </a:rPr>
              <a:t>确定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】</a:t>
            </a:r>
            <a:r>
              <a:rPr lang="zh-CN" altLang="en-US" sz="2000" b="0" i="0" u="none" strike="noStrike" dirty="0">
                <a:effectLst/>
                <a:latin typeface="-apple-system"/>
              </a:rPr>
              <a:t>即可。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箭头: 右 42"/>
          <p:cNvSpPr/>
          <p:nvPr/>
        </p:nvSpPr>
        <p:spPr>
          <a:xfrm>
            <a:off x="5686712" y="4231000"/>
            <a:ext cx="591457" cy="343043"/>
          </a:xfrm>
          <a:prstGeom prst="rightArrow">
            <a:avLst/>
          </a:prstGeom>
          <a:solidFill>
            <a:schemeClr val="accent5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194" name="Picture 2" descr="在这里插入图片描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48" y="2141236"/>
            <a:ext cx="4213740" cy="452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在这里插入图片描述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532" y="2036281"/>
            <a:ext cx="4473950" cy="4732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测试</a:t>
            </a:r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是否安装成功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104287"/>
            <a:ext cx="9664083" cy="5113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-apple-system"/>
              </a:rPr>
              <a:t>打开命令行，输入</a:t>
            </a:r>
            <a:r>
              <a:rPr lang="en-US" altLang="zh-CN" sz="2000" dirty="0">
                <a:latin typeface="-apple-system"/>
              </a:rPr>
              <a:t>【</a:t>
            </a:r>
            <a:r>
              <a:rPr lang="en-US" altLang="zh-CN" sz="2000" dirty="0" err="1">
                <a:latin typeface="-apple-system"/>
              </a:rPr>
              <a:t>conda</a:t>
            </a:r>
            <a:r>
              <a:rPr lang="zh-CN" altLang="en-US" sz="2000" dirty="0">
                <a:latin typeface="-apple-system"/>
              </a:rPr>
              <a:t> </a:t>
            </a:r>
            <a:r>
              <a:rPr lang="en-US" altLang="zh-CN" sz="2000" dirty="0">
                <a:latin typeface="-apple-system"/>
              </a:rPr>
              <a:t>–version】</a:t>
            </a:r>
            <a:r>
              <a:rPr lang="zh-CN" altLang="en-US" sz="2000" dirty="0">
                <a:latin typeface="-apple-system"/>
              </a:rPr>
              <a:t>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【python】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242" name="Picture 2" descr="在这里插入图片描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069" y="1875451"/>
            <a:ext cx="4737100" cy="184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在这里插入图片描述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069" y="4497756"/>
            <a:ext cx="8826250" cy="1903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常用指令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104287"/>
            <a:ext cx="9664083" cy="5575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-apple-system"/>
              </a:rPr>
              <a:t>创建虚拟环境：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激活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进入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使用虚拟环境：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退出当前环境：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复制虚拟环境：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689718" y="1816443"/>
            <a:ext cx="8949450" cy="543698"/>
          </a:xfrm>
          <a:prstGeom prst="roundRect">
            <a:avLst/>
          </a:prstGeom>
          <a:solidFill>
            <a:srgbClr val="F0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GB" altLang="zh-CN" dirty="0" err="1">
                <a:solidFill>
                  <a:sysClr val="windowText" lastClr="000000"/>
                </a:solidFill>
              </a:rPr>
              <a:t>conda</a:t>
            </a:r>
            <a:r>
              <a:rPr kumimoji="1" lang="en-GB" altLang="zh-CN" dirty="0">
                <a:solidFill>
                  <a:sysClr val="windowText" lastClr="000000"/>
                </a:solidFill>
              </a:rPr>
              <a:t>  create  --name  </a:t>
            </a:r>
            <a:r>
              <a:rPr kumimoji="1" lang="en-GB" altLang="zh-CN" dirty="0" err="1">
                <a:solidFill>
                  <a:sysClr val="windowText" lastClr="000000"/>
                </a:solidFill>
              </a:rPr>
              <a:t>env_name</a:t>
            </a:r>
            <a:r>
              <a:rPr kumimoji="1" lang="en-GB" altLang="zh-CN" dirty="0">
                <a:solidFill>
                  <a:sysClr val="windowText" lastClr="000000"/>
                </a:solidFill>
              </a:rPr>
              <a:t> python=3.6 </a:t>
            </a:r>
            <a:r>
              <a:rPr kumimoji="1" lang="en-GB" altLang="zh-CN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创建指定</a:t>
            </a:r>
            <a:r>
              <a:rPr kumimoji="1" lang="en-GB" altLang="zh-CN" dirty="0">
                <a:solidFill>
                  <a:schemeClr val="bg1">
                    <a:lumMod val="50000"/>
                  </a:schemeClr>
                </a:solidFill>
              </a:rPr>
              <a:t>python</a:t>
            </a:r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版本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1689718" y="3157151"/>
            <a:ext cx="8949450" cy="543698"/>
          </a:xfrm>
          <a:prstGeom prst="roundRect">
            <a:avLst/>
          </a:prstGeom>
          <a:solidFill>
            <a:srgbClr val="F0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GB" altLang="zh-CN" dirty="0" err="1">
                <a:solidFill>
                  <a:sysClr val="windowText" lastClr="000000"/>
                </a:solidFill>
              </a:rPr>
              <a:t>conda</a:t>
            </a:r>
            <a:r>
              <a:rPr kumimoji="1" lang="en-GB" altLang="zh-CN" dirty="0">
                <a:solidFill>
                  <a:sysClr val="windowText" lastClr="000000"/>
                </a:solidFill>
              </a:rPr>
              <a:t>  activate</a:t>
            </a:r>
            <a:r>
              <a:rPr kumimoji="1" lang="zh-CN" altLang="en-US" dirty="0">
                <a:solidFill>
                  <a:sysClr val="windowText" lastClr="000000"/>
                </a:solidFill>
              </a:rPr>
              <a:t> </a:t>
            </a:r>
            <a:r>
              <a:rPr kumimoji="1" lang="en-US" altLang="zh-CN" dirty="0" err="1">
                <a:solidFill>
                  <a:sysClr val="windowText" lastClr="000000"/>
                </a:solidFill>
              </a:rPr>
              <a:t>env_name</a:t>
            </a:r>
            <a:endParaRPr kumimoji="1"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621275" y="4497859"/>
            <a:ext cx="8949450" cy="543698"/>
          </a:xfrm>
          <a:prstGeom prst="roundRect">
            <a:avLst/>
          </a:prstGeom>
          <a:solidFill>
            <a:srgbClr val="F0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GB" altLang="zh-CN" dirty="0" err="1">
                <a:solidFill>
                  <a:sysClr val="windowText" lastClr="000000"/>
                </a:solidFill>
              </a:rPr>
              <a:t>conda</a:t>
            </a:r>
            <a:r>
              <a:rPr kumimoji="1" lang="en-GB" altLang="zh-CN" dirty="0">
                <a:solidFill>
                  <a:sysClr val="windowText" lastClr="000000"/>
                </a:solidFill>
              </a:rPr>
              <a:t>  deactivate</a:t>
            </a:r>
            <a:r>
              <a:rPr kumimoji="1" lang="zh-CN" altLang="en-US" dirty="0">
                <a:solidFill>
                  <a:sysClr val="windowText" lastClr="000000"/>
                </a:solidFill>
              </a:rPr>
              <a:t> </a:t>
            </a:r>
            <a:r>
              <a:rPr kumimoji="1" lang="en-US" altLang="zh-CN" dirty="0" err="1">
                <a:solidFill>
                  <a:sysClr val="windowText" lastClr="000000"/>
                </a:solidFill>
              </a:rPr>
              <a:t>env_name</a:t>
            </a:r>
            <a:endParaRPr kumimoji="1"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621275" y="5838567"/>
            <a:ext cx="8949450" cy="543698"/>
          </a:xfrm>
          <a:prstGeom prst="roundRect">
            <a:avLst/>
          </a:prstGeom>
          <a:solidFill>
            <a:srgbClr val="F0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GB" altLang="zh-CN" dirty="0" err="1">
                <a:solidFill>
                  <a:sysClr val="windowText" lastClr="000000"/>
                </a:solidFill>
              </a:rPr>
              <a:t>conda</a:t>
            </a:r>
            <a:r>
              <a:rPr kumimoji="1" lang="en-GB" altLang="zh-CN" dirty="0">
                <a:solidFill>
                  <a:sysClr val="windowText" lastClr="000000"/>
                </a:solidFill>
              </a:rPr>
              <a:t>  create  --name  </a:t>
            </a:r>
            <a:r>
              <a:rPr kumimoji="1" lang="en-GB" altLang="zh-CN" dirty="0" err="1">
                <a:solidFill>
                  <a:sysClr val="windowText" lastClr="000000"/>
                </a:solidFill>
              </a:rPr>
              <a:t>new_env_name</a:t>
            </a:r>
            <a:r>
              <a:rPr kumimoji="1" lang="en-GB" altLang="zh-CN" dirty="0">
                <a:solidFill>
                  <a:sysClr val="windowText" lastClr="000000"/>
                </a:solidFill>
              </a:rPr>
              <a:t>  --clone  </a:t>
            </a:r>
            <a:r>
              <a:rPr kumimoji="1" lang="en-GB" altLang="zh-CN" dirty="0" err="1">
                <a:solidFill>
                  <a:sysClr val="windowText" lastClr="000000"/>
                </a:solidFill>
              </a:rPr>
              <a:t>old_env_name</a:t>
            </a:r>
            <a:endParaRPr kumimoji="1" lang="en-GB" altLang="zh-CN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常用指令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104287"/>
            <a:ext cx="9664083" cy="326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-apple-system"/>
              </a:rPr>
              <a:t>删除某个环境：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安装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卸载包：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689718" y="1816443"/>
            <a:ext cx="8949450" cy="543698"/>
          </a:xfrm>
          <a:prstGeom prst="roundRect">
            <a:avLst/>
          </a:prstGeom>
          <a:solidFill>
            <a:srgbClr val="F0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GB" altLang="zh-CN" dirty="0" err="1">
                <a:solidFill>
                  <a:schemeClr val="tx1"/>
                </a:solidFill>
              </a:rPr>
              <a:t>conda</a:t>
            </a:r>
            <a:r>
              <a:rPr kumimoji="1" lang="en-GB" altLang="zh-CN" dirty="0">
                <a:solidFill>
                  <a:schemeClr val="tx1"/>
                </a:solidFill>
              </a:rPr>
              <a:t>  remove  --name  </a:t>
            </a:r>
            <a:r>
              <a:rPr kumimoji="1" lang="en-GB" altLang="zh-CN" dirty="0" err="1">
                <a:solidFill>
                  <a:schemeClr val="tx1"/>
                </a:solidFill>
              </a:rPr>
              <a:t>env_name</a:t>
            </a:r>
            <a:r>
              <a:rPr kumimoji="1" lang="en-GB" altLang="zh-CN" dirty="0">
                <a:solidFill>
                  <a:schemeClr val="tx1"/>
                </a:solidFill>
              </a:rPr>
              <a:t>  --all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1689718" y="1816443"/>
            <a:ext cx="8949450" cy="543698"/>
          </a:xfrm>
          <a:prstGeom prst="roundRect">
            <a:avLst/>
          </a:prstGeom>
          <a:solidFill>
            <a:srgbClr val="F0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GB" altLang="zh-CN" dirty="0" err="1">
                <a:solidFill>
                  <a:sysClr val="windowText" lastClr="000000"/>
                </a:solidFill>
              </a:rPr>
              <a:t>conda</a:t>
            </a:r>
            <a:r>
              <a:rPr kumimoji="1" lang="en-GB" altLang="zh-CN" dirty="0">
                <a:solidFill>
                  <a:sysClr val="windowText" lastClr="000000"/>
                </a:solidFill>
              </a:rPr>
              <a:t>  remove  --name  </a:t>
            </a:r>
            <a:r>
              <a:rPr kumimoji="1" lang="en-GB" altLang="zh-CN" dirty="0" err="1">
                <a:solidFill>
                  <a:sysClr val="windowText" lastClr="000000"/>
                </a:solidFill>
              </a:rPr>
              <a:t>env_name</a:t>
            </a:r>
            <a:r>
              <a:rPr kumimoji="1" lang="en-GB" altLang="zh-CN" dirty="0">
                <a:solidFill>
                  <a:sysClr val="windowText" lastClr="000000"/>
                </a:solidFill>
              </a:rPr>
              <a:t>  --all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1689718" y="3639068"/>
            <a:ext cx="8949450" cy="1464277"/>
          </a:xfrm>
          <a:prstGeom prst="roundRect">
            <a:avLst/>
          </a:prstGeom>
          <a:solidFill>
            <a:srgbClr val="F0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 err="1">
                <a:solidFill>
                  <a:sysClr val="windowText" lastClr="000000"/>
                </a:solidFill>
              </a:rPr>
              <a:t>conda</a:t>
            </a:r>
            <a:r>
              <a:rPr kumimoji="1" lang="en-US" altLang="zh-CN" dirty="0">
                <a:solidFill>
                  <a:sysClr val="windowText" lastClr="000000"/>
                </a:solidFill>
              </a:rPr>
              <a:t>  install  re</a:t>
            </a:r>
          </a:p>
          <a:p>
            <a:r>
              <a:rPr kumimoji="1" lang="en-US" altLang="zh-CN" dirty="0" err="1">
                <a:solidFill>
                  <a:sysClr val="windowText" lastClr="000000"/>
                </a:solidFill>
              </a:rPr>
              <a:t>conda</a:t>
            </a:r>
            <a:r>
              <a:rPr kumimoji="1" lang="en-US" altLang="zh-CN" dirty="0">
                <a:solidFill>
                  <a:sysClr val="windowText" lastClr="000000"/>
                </a:solidFill>
              </a:rPr>
              <a:t>  install  xx=</a:t>
            </a:r>
            <a:r>
              <a:rPr kumimoji="1" lang="zh-CN" altLang="en-US" dirty="0">
                <a:solidFill>
                  <a:sysClr val="windowText" lastClr="000000"/>
                </a:solidFill>
              </a:rPr>
              <a:t>版本号  </a:t>
            </a:r>
            <a:r>
              <a:rPr kumimoji="1" lang="en-US" altLang="zh-CN" dirty="0">
                <a:solidFill>
                  <a:sysClr val="windowText" lastClr="000000"/>
                </a:solidFill>
              </a:rPr>
              <a:t># </a:t>
            </a:r>
            <a:r>
              <a:rPr kumimoji="1" lang="zh-CN" altLang="en-US" dirty="0">
                <a:solidFill>
                  <a:sysClr val="windowText" lastClr="000000"/>
                </a:solidFill>
              </a:rPr>
              <a:t>指定版本号</a:t>
            </a:r>
          </a:p>
          <a:p>
            <a:r>
              <a:rPr kumimoji="1" lang="en-US" altLang="zh-CN" dirty="0" err="1">
                <a:solidFill>
                  <a:sysClr val="windowText" lastClr="000000"/>
                </a:solidFill>
              </a:rPr>
              <a:t>conda</a:t>
            </a:r>
            <a:r>
              <a:rPr kumimoji="1" lang="en-US" altLang="zh-CN" dirty="0">
                <a:solidFill>
                  <a:sysClr val="windowText" lastClr="000000"/>
                </a:solidFill>
              </a:rPr>
              <a:t>  install  xxx -</a:t>
            </a:r>
            <a:r>
              <a:rPr kumimoji="1" lang="en-US" altLang="zh-CN" dirty="0" err="1">
                <a:solidFill>
                  <a:sysClr val="windowText" lastClr="000000"/>
                </a:solidFill>
              </a:rPr>
              <a:t>i</a:t>
            </a:r>
            <a:r>
              <a:rPr kumimoji="1" lang="en-US" altLang="zh-CN" dirty="0">
                <a:solidFill>
                  <a:sysClr val="windowText" lastClr="000000"/>
                </a:solidFill>
              </a:rPr>
              <a:t> </a:t>
            </a:r>
            <a:r>
              <a:rPr kumimoji="1" lang="zh-CN" altLang="en-US" dirty="0">
                <a:solidFill>
                  <a:sysClr val="windowText" lastClr="000000"/>
                </a:solidFill>
              </a:rPr>
              <a:t>源名称或链接 </a:t>
            </a:r>
            <a:r>
              <a:rPr kumimoji="1" lang="en-US" altLang="zh-CN" dirty="0">
                <a:solidFill>
                  <a:sysClr val="windowText" lastClr="000000"/>
                </a:solidFill>
              </a:rPr>
              <a:t># </a:t>
            </a:r>
            <a:r>
              <a:rPr kumimoji="1" lang="zh-CN" altLang="en-US" dirty="0">
                <a:solidFill>
                  <a:sysClr val="windowText" lastClr="000000"/>
                </a:solidFill>
              </a:rPr>
              <a:t>指定下载源</a:t>
            </a:r>
          </a:p>
          <a:p>
            <a:r>
              <a:rPr kumimoji="1" lang="en-US" altLang="zh-CN" dirty="0" err="1">
                <a:solidFill>
                  <a:sysClr val="windowText" lastClr="000000"/>
                </a:solidFill>
              </a:rPr>
              <a:t>conda</a:t>
            </a:r>
            <a:r>
              <a:rPr kumimoji="1" lang="en-US" altLang="zh-CN" dirty="0">
                <a:solidFill>
                  <a:sysClr val="windowText" lastClr="000000"/>
                </a:solidFill>
              </a:rPr>
              <a:t>  uninstall  xxx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在</a:t>
            </a:r>
            <a:r>
              <a:rPr lang="en-US" altLang="zh-CN" sz="3600" dirty="0" err="1">
                <a:latin typeface="Arial" panose="020B0604020202020204" pitchFamily="34" charset="0"/>
                <a:ea typeface="微软雅黑" panose="020B0503020204020204" pitchFamily="34" charset="-122"/>
              </a:rPr>
              <a:t>VSCode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中使用</a:t>
            </a:r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endParaRPr lang="zh-CN" altLang="en-US" sz="3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EC2CC14-81A8-C5D9-47FF-375BFC2B4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7516" y="2351676"/>
            <a:ext cx="6116968" cy="239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25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在</a:t>
            </a:r>
            <a:r>
              <a:rPr lang="en-US" altLang="zh-CN" sz="3600" dirty="0" err="1">
                <a:latin typeface="Arial" panose="020B0604020202020204" pitchFamily="34" charset="0"/>
                <a:ea typeface="微软雅黑" panose="020B0503020204020204" pitchFamily="34" charset="-122"/>
              </a:rPr>
              <a:t>VSCode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中使用</a:t>
            </a:r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endParaRPr lang="zh-CN" altLang="en-US" sz="3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0177996-ED0B-21B3-CDD4-38FC0B79D7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570" r="8544" b="40143"/>
          <a:stretch/>
        </p:blipFill>
        <p:spPr>
          <a:xfrm>
            <a:off x="2765063" y="2186867"/>
            <a:ext cx="6661869" cy="159089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9C8E2216-F428-D671-4079-93D6986FF52E}"/>
              </a:ext>
            </a:extLst>
          </p:cNvPr>
          <p:cNvSpPr txBox="1"/>
          <p:nvPr/>
        </p:nvSpPr>
        <p:spPr>
          <a:xfrm>
            <a:off x="469126" y="2751484"/>
            <a:ext cx="1901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Ctrl+Shift+P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674BCB2-1917-47C7-E63A-E6498ABF97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0783" y="4573668"/>
            <a:ext cx="7030431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887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requirements.txt</a:t>
            </a:r>
            <a:endParaRPr lang="zh-CN" altLang="en-US" sz="3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319581" y="1755563"/>
            <a:ext cx="9664083" cy="372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该文件列出了项目所有外部依赖的名称和版本号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000" dirty="0"/>
              <a:t>让项目环境可复制、可管理，是团队协作和项目部署的关键。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在你的项目环境中，运行以下命令，会自动生成一个包含所有已安装包的文件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当你在另一台电脑上或新环境中部署项目时，只需运行以下命令，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pip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就会根据文件内容自动安装所有依赖。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676897" y="3429000"/>
            <a:ext cx="8949450" cy="543698"/>
          </a:xfrm>
          <a:prstGeom prst="roundRect">
            <a:avLst/>
          </a:prstGeom>
          <a:solidFill>
            <a:srgbClr val="F0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GB" altLang="zh-CN" dirty="0">
                <a:solidFill>
                  <a:sysClr val="windowText" lastClr="000000"/>
                </a:solidFill>
              </a:rPr>
              <a:t>pip freeze &gt; requirements.txt</a:t>
            </a:r>
          </a:p>
        </p:txBody>
      </p:sp>
      <p:sp>
        <p:nvSpPr>
          <p:cNvPr id="5" name="圆角矩形 6">
            <a:extLst>
              <a:ext uri="{FF2B5EF4-FFF2-40B4-BE49-F238E27FC236}">
                <a16:creationId xmlns:a16="http://schemas.microsoft.com/office/drawing/2014/main" id="{E5325371-4C86-EACE-5347-E8807CA0E927}"/>
              </a:ext>
            </a:extLst>
          </p:cNvPr>
          <p:cNvSpPr/>
          <p:nvPr/>
        </p:nvSpPr>
        <p:spPr>
          <a:xfrm>
            <a:off x="1676897" y="5116459"/>
            <a:ext cx="8949450" cy="543698"/>
          </a:xfrm>
          <a:prstGeom prst="roundRect">
            <a:avLst/>
          </a:prstGeom>
          <a:solidFill>
            <a:srgbClr val="F0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ysClr val="windowText" lastClr="000000"/>
                </a:solidFill>
              </a:rPr>
              <a:t>pip install -r requirements.txt</a:t>
            </a:r>
            <a:endParaRPr kumimoji="1" lang="en-GB" altLang="zh-CN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906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Cursor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下载安装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263958" y="1689379"/>
            <a:ext cx="9664083" cy="3266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Cursor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是一款专为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AI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驱动的开发设计的代码编辑器。它基于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VS Code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的源代码构建，但在其基础上深度集成了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AI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功能。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官方下载地址：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hlinkClick r:id="rId4"/>
              </a:rPr>
              <a:t>https://cursor.com/cn/downloads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官方教程文档：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hlinkClick r:id="rId5"/>
              </a:rPr>
              <a:t>https://cursordocs.com/docs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安装过程和</a:t>
            </a:r>
            <a:r>
              <a:rPr lang="en-US" altLang="zh-CN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VSCode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大致相同，</a:t>
            </a:r>
            <a:r>
              <a:rPr lang="zh-CN" altLang="en-US" sz="2000" dirty="0"/>
              <a:t>界面与 </a:t>
            </a:r>
            <a:r>
              <a:rPr lang="en-US" altLang="zh-CN" sz="2000" dirty="0"/>
              <a:t>VS Code </a:t>
            </a:r>
            <a:r>
              <a:rPr lang="zh-CN" altLang="en-US" sz="2000" dirty="0"/>
              <a:t>几乎完全相同，主要区别在于界面右侧的 </a:t>
            </a:r>
            <a:r>
              <a:rPr lang="en-US" altLang="zh-CN" sz="2000" b="1" dirty="0"/>
              <a:t>Chat</a:t>
            </a:r>
            <a:r>
              <a:rPr lang="zh-CN" altLang="en-US" sz="2000" dirty="0"/>
              <a:t> 区域，这是你与 </a:t>
            </a:r>
            <a:r>
              <a:rPr lang="en-US" altLang="zh-CN" sz="2000" dirty="0"/>
              <a:t>AI </a:t>
            </a:r>
            <a:r>
              <a:rPr lang="zh-CN" altLang="en-US" sz="2000" dirty="0"/>
              <a:t>交互的主要窗口。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59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Cursor Chat</a:t>
            </a:r>
            <a:endParaRPr lang="zh-CN" altLang="en-US" sz="3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263959" y="1689379"/>
            <a:ext cx="6687346" cy="3730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默认在编辑器右侧。如果关闭了，可以按 </a:t>
            </a:r>
            <a:r>
              <a:rPr lang="en-US" altLang="zh-CN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Ctrl+L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或点击右上角的聊天图标打开。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回答问题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询问编程相关问题，比如“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的装饰器是什么？”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生成代码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告诉它你的需求，比如“帮我用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写一个计算斐波那契数列的函数。”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解释代码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选中一段你不理解的代码，然后通过右键菜单或直接在聊天框中提问：“解释一下这段代码。”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F8B4F6C-FB75-777D-C827-F552C4D488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779" b="10261"/>
          <a:stretch/>
        </p:blipFill>
        <p:spPr>
          <a:xfrm>
            <a:off x="8040118" y="477606"/>
            <a:ext cx="2943546" cy="615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967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Cursor Edit</a:t>
            </a:r>
            <a:endParaRPr lang="zh-CN" altLang="en-US" sz="3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263958" y="1689379"/>
            <a:ext cx="9238323" cy="3730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可以直接在编辑器内让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AI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修改或生成代码。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选中你想要修改或作为上下文的代码片段。按下 </a:t>
            </a:r>
            <a:r>
              <a:rPr lang="en-US" altLang="zh-CN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Ctrl+K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一个浮动输入框会出现在你选中的代码上方。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输入指令： 在输入框中告诉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AI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你想做什么。例如：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“将这段代码重构成一个类。”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“为这个函数添加注释。”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“检查这段代码是否有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bug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，并修复。”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AI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生成代码后，你可以按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Tab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键接受，或按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Esc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键拒绝。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177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Cursor Edit</a:t>
            </a:r>
            <a:endParaRPr lang="zh-CN" altLang="en-US" sz="3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A160C91-79BF-90E8-BD80-B5E248862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7222" y="1216037"/>
            <a:ext cx="7457556" cy="534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43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Cursor Terminal</a:t>
            </a:r>
            <a:endParaRPr lang="zh-CN" altLang="en-US" sz="3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263958" y="1689379"/>
            <a:ext cx="9238323" cy="1884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AI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终端可以帮助你理解和解决终端中遇到的错误。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Ctrl+`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打开终端。当终端出现错误时，你可以点击错误旁边的 “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Explain this error”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按钮。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AI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会立刻为你分析错误原因并提供可能的解决方案。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304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文本预处理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726517"/>
            <a:ext cx="9664083" cy="373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判断一个字符串是不是某种固定格式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例如，判断用户输入的是不是邮箱地址、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地址、电话号码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…...</a:t>
            </a: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查找符合某些复杂规则的字符串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例如，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woodchuck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woodchucks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Woodchuck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Woodchucks</a:t>
            </a: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从无结构化的文本中抽取出结构化信息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1" name="表格 2"/>
          <p:cNvGraphicFramePr>
            <a:graphicFrameLocks noGrp="1"/>
          </p:cNvGraphicFramePr>
          <p:nvPr/>
        </p:nvGraphicFramePr>
        <p:xfrm>
          <a:off x="6863598" y="5074185"/>
          <a:ext cx="2376264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0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8533">
                <a:tc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张三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北京大学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5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李四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华东师范大学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5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王五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复旦大学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2" name="文本框 41"/>
          <p:cNvSpPr txBox="1"/>
          <p:nvPr/>
        </p:nvSpPr>
        <p:spPr>
          <a:xfrm>
            <a:off x="1629968" y="5273087"/>
            <a:ext cx="36424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例如，张三考上了北京大学，李四考上了华东师范大学，王五考上了复旦大学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3" name="箭头: 右 42"/>
          <p:cNvSpPr/>
          <p:nvPr/>
        </p:nvSpPr>
        <p:spPr>
          <a:xfrm>
            <a:off x="5698132" y="5514565"/>
            <a:ext cx="216024" cy="216024"/>
          </a:xfrm>
          <a:prstGeom prst="rightArrow">
            <a:avLst/>
          </a:prstGeom>
          <a:solidFill>
            <a:schemeClr val="accent5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38200" y="3155030"/>
            <a:ext cx="10515600" cy="695470"/>
          </a:xfrm>
        </p:spPr>
        <p:txBody>
          <a:bodyPr>
            <a:normAutofit/>
          </a:bodyPr>
          <a:lstStyle/>
          <a:p>
            <a:pPr algn="ctr"/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正则表达式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249447" y="467670"/>
            <a:ext cx="9252835" cy="7483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什么是正则表达式 </a:t>
            </a:r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(Regular Expressions) 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033395" y="2124385"/>
            <a:ext cx="9664083" cy="3654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正则表达式使用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某种预定义的模式去匹配一类具有共同特征的字符串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，主要用于处理字符串，可以快速、准确地完成复杂的查找、替换等处理要求，在文本编辑与处理、网页爬虫之类的场合中有重要应用。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正则表达式就是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对字符串（包括普通字符，例如，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 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z 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之间的字母）和特殊字符（称为“元字符”）操作的一种逻辑公式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使用单个字符串来描述匹配一系列符合某个句法规则的字符串。</a:t>
            </a: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正则表达式搜索过程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033395" y="2124385"/>
            <a:ext cx="9664083" cy="1961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正则表达式过程：依次拿出表达式和文本中的字符比较，如果每一个字符都能匹配，则匹配成功，否则匹配失败。如果有多个匹配项，则可以将搜索设计为返回行上的每个匹配项，或者只返回第一个匹配项。</a:t>
            </a: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最简单的正则表达式是简单字符序列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033395" y="1685473"/>
            <a:ext cx="9664083" cy="49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匹配字符串序列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410" y="2326562"/>
            <a:ext cx="9161158" cy="1749781"/>
          </a:xfrm>
          <a:prstGeom prst="rect">
            <a:avLst/>
          </a:prstGeom>
        </p:spPr>
      </p:pic>
      <p:graphicFrame>
        <p:nvGraphicFramePr>
          <p:cNvPr id="5" name="表格 6"/>
          <p:cNvGraphicFramePr>
            <a:graphicFrameLocks noGrp="1"/>
          </p:cNvGraphicFramePr>
          <p:nvPr/>
        </p:nvGraphicFramePr>
        <p:xfrm>
          <a:off x="1606240" y="4353409"/>
          <a:ext cx="909032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0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6904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r="woodchucks"</a:t>
                      </a:r>
                    </a:p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re.search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(r,"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Woodchucks:interesting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links to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woodchucks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and lemurs")</a:t>
                      </a:r>
                    </a:p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match.span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())</a:t>
                      </a:r>
                    </a:p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print(match)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(32, 42) &lt;</a:t>
                      </a:r>
                      <a:r>
                        <a:rPr lang="en-US" altLang="zh-CN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re.Match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object; span=(32, 42), match='woodchucks'&gt;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最简单的正则表达式是简单字符序列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033395" y="1490401"/>
            <a:ext cx="9664083" cy="49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匹配字符串序列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252" y="2044157"/>
            <a:ext cx="9280226" cy="1772523"/>
          </a:xfrm>
          <a:prstGeom prst="rect">
            <a:avLst/>
          </a:prstGeom>
        </p:spPr>
      </p:pic>
      <p:sp>
        <p:nvSpPr>
          <p:cNvPr id="7" name="矩形标注 6"/>
          <p:cNvSpPr/>
          <p:nvPr/>
        </p:nvSpPr>
        <p:spPr>
          <a:xfrm>
            <a:off x="3292997" y="3889765"/>
            <a:ext cx="1332148" cy="438246"/>
          </a:xfrm>
          <a:prstGeom prst="wedgeRectCallout">
            <a:avLst>
              <a:gd name="adj1" fmla="val -65280"/>
              <a:gd name="adj2" fmla="val 56433"/>
            </a:avLst>
          </a:prstGeom>
          <a:solidFill>
            <a:schemeClr val="accent5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正则表达式大小写敏感</a:t>
            </a:r>
          </a:p>
        </p:txBody>
      </p:sp>
      <p:graphicFrame>
        <p:nvGraphicFramePr>
          <p:cNvPr id="2" name="表格 6"/>
          <p:cNvGraphicFramePr>
            <a:graphicFrameLocks noGrp="1"/>
          </p:cNvGraphicFramePr>
          <p:nvPr/>
        </p:nvGraphicFramePr>
        <p:xfrm>
          <a:off x="1463816" y="4401108"/>
          <a:ext cx="9187098" cy="1812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87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6904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r="a"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re.search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r,"Mary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Ann stopped by Mona’s")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match.span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())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(1, 2)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最简单的正则表达式是简单字符序列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033395" y="1746433"/>
            <a:ext cx="9664083" cy="49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匹配字符串序列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355" y="2383680"/>
            <a:ext cx="9098927" cy="1737895"/>
          </a:xfrm>
          <a:prstGeom prst="rect">
            <a:avLst/>
          </a:prstGeom>
        </p:spPr>
      </p:pic>
      <p:graphicFrame>
        <p:nvGraphicFramePr>
          <p:cNvPr id="2" name="表格 6"/>
          <p:cNvGraphicFramePr>
            <a:graphicFrameLocks noGrp="1"/>
          </p:cNvGraphicFramePr>
          <p:nvPr/>
        </p:nvGraphicFramePr>
        <p:xfrm>
          <a:off x="1479792" y="4474320"/>
          <a:ext cx="9022490" cy="1812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2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6904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r="!"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re.search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r,"“You’ve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left the burglar behind again!” said Nori")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match.span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())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(37, 38)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最简单的正则表达式是简单字符序列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076973" y="1516349"/>
            <a:ext cx="9664083" cy="49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匹配字符串序列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749" y="2118021"/>
            <a:ext cx="9186533" cy="1754627"/>
          </a:xfrm>
          <a:prstGeom prst="rect">
            <a:avLst/>
          </a:prstGeom>
        </p:spPr>
      </p:pic>
      <p:graphicFrame>
        <p:nvGraphicFramePr>
          <p:cNvPr id="4" name="表格 6"/>
          <p:cNvGraphicFramePr>
            <a:graphicFrameLocks noGrp="1"/>
          </p:cNvGraphicFramePr>
          <p:nvPr/>
        </p:nvGraphicFramePr>
        <p:xfrm>
          <a:off x="1391402" y="4474320"/>
          <a:ext cx="9110880" cy="1812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6904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帮助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re.search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(r,"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我需要你的帮助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")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print(match)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en-US" altLang="zh-CN" sz="18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re.Match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object; span=(5, 7), match='</a:t>
                      </a:r>
                      <a:r>
                        <a:rPr lang="zh-CN" altLang="en-US" sz="18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帮助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'&gt;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256427" y="-109526"/>
            <a:ext cx="9245855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正则表达式语法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Disjunctions</a:t>
            </a:r>
            <a:r>
              <a:rPr lang="zh-CN" altLang="en-US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（析取）</a:t>
            </a:r>
            <a:endParaRPr lang="zh-CN" altLang="en-US" sz="3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391402" y="1630254"/>
            <a:ext cx="9664083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匹配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[ ]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中列举的任一字符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403" y="2358365"/>
            <a:ext cx="9110879" cy="1774845"/>
          </a:xfrm>
          <a:prstGeom prst="rect">
            <a:avLst/>
          </a:prstGeom>
        </p:spPr>
      </p:pic>
      <p:graphicFrame>
        <p:nvGraphicFramePr>
          <p:cNvPr id="2" name="表格 6"/>
          <p:cNvGraphicFramePr>
            <a:graphicFrameLocks noGrp="1"/>
          </p:cNvGraphicFramePr>
          <p:nvPr/>
        </p:nvGraphicFramePr>
        <p:xfrm>
          <a:off x="1391402" y="4474320"/>
          <a:ext cx="9110880" cy="1812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6904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r="[Ww]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oodchucks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re.search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r,"Woodchucks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or woodchucks")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match.span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())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(0, 10)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354150" y="-109526"/>
            <a:ext cx="914813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正则表达式语法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Disjunctions</a:t>
            </a:r>
            <a:r>
              <a:rPr lang="zh-CN" altLang="en-US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（析取）</a:t>
            </a:r>
            <a:endParaRPr lang="zh-CN" altLang="en-US" sz="3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263958" y="1643699"/>
            <a:ext cx="9664083" cy="1115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匹配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[ ]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中列举的任一字符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762" y="2299051"/>
            <a:ext cx="9110880" cy="1774845"/>
          </a:xfrm>
          <a:prstGeom prst="rect">
            <a:avLst/>
          </a:prstGeom>
        </p:spPr>
      </p:pic>
      <p:graphicFrame>
        <p:nvGraphicFramePr>
          <p:cNvPr id="4" name="表格 6"/>
          <p:cNvGraphicFramePr>
            <a:graphicFrameLocks noGrp="1"/>
          </p:cNvGraphicFramePr>
          <p:nvPr/>
        </p:nvGraphicFramePr>
        <p:xfrm>
          <a:off x="1475762" y="4440137"/>
          <a:ext cx="9026520" cy="1782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6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16716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r="[Ww]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oodchucks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re.findall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r,"Woodchucks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or woodchucks")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print(match)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29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['Woodchucks', 'woodchucks']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475761" y="-109526"/>
            <a:ext cx="9026521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正则表达式语法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Disjunctions</a:t>
            </a:r>
            <a:r>
              <a:rPr lang="zh-CN" altLang="en-US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（析取）</a:t>
            </a:r>
            <a:endParaRPr lang="zh-CN" altLang="en-US" sz="3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263958" y="1582739"/>
            <a:ext cx="9664083" cy="1115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匹配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[ ]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中列举的任一字符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761" y="2373891"/>
            <a:ext cx="9026520" cy="1758411"/>
          </a:xfrm>
          <a:prstGeom prst="rect">
            <a:avLst/>
          </a:prstGeom>
        </p:spPr>
      </p:pic>
      <p:graphicFrame>
        <p:nvGraphicFramePr>
          <p:cNvPr id="2" name="表格 6"/>
          <p:cNvGraphicFramePr>
            <a:graphicFrameLocks noGrp="1"/>
          </p:cNvGraphicFramePr>
          <p:nvPr/>
        </p:nvGraphicFramePr>
        <p:xfrm>
          <a:off x="1552174" y="4445007"/>
          <a:ext cx="8941561" cy="1770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1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4092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r="[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abc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]"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re.search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r,"In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uomini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, in 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soldati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")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print(match)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319">
                <a:tc>
                  <a:txBody>
                    <a:bodyPr/>
                    <a:lstStyle/>
                    <a:p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&lt;</a:t>
                      </a:r>
                      <a:r>
                        <a:rPr lang="en-US" altLang="zh-CN"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re.Match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 object; span=(18, 19), match='a'&gt;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172666" y="-76488"/>
            <a:ext cx="955180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正则表达式语法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Disjunctions</a:t>
            </a:r>
            <a:r>
              <a:rPr lang="zh-CN" altLang="en-US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（析取）</a:t>
            </a:r>
            <a:endParaRPr lang="zh-CN" altLang="en-US" sz="3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469057" y="1460439"/>
            <a:ext cx="9664083" cy="1115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匹配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[ ]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中列举的任一字符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0373" y="2318523"/>
            <a:ext cx="9087713" cy="1770332"/>
          </a:xfrm>
          <a:prstGeom prst="rect">
            <a:avLst/>
          </a:prstGeom>
        </p:spPr>
      </p:pic>
      <p:graphicFrame>
        <p:nvGraphicFramePr>
          <p:cNvPr id="4" name="表格 6"/>
          <p:cNvGraphicFramePr>
            <a:graphicFrameLocks noGrp="1"/>
          </p:cNvGraphicFramePr>
          <p:nvPr/>
        </p:nvGraphicFramePr>
        <p:xfrm>
          <a:off x="1552174" y="4445007"/>
          <a:ext cx="8941561" cy="1770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1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4092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r="[1234567890]"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re.search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r,"plenty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of 7 to 5")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print(match)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319">
                <a:tc>
                  <a:txBody>
                    <a:bodyPr/>
                    <a:lstStyle/>
                    <a:p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&lt;</a:t>
                      </a:r>
                      <a:r>
                        <a:rPr lang="en-US" altLang="zh-CN"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re.Match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 object; span=(10, 11), match='7'&gt;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326229" y="-109526"/>
            <a:ext cx="917605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正则表达式语法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Disjunctions</a:t>
            </a:r>
            <a:r>
              <a:rPr lang="zh-CN" altLang="en-US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（析取）</a:t>
            </a:r>
            <a:endParaRPr lang="zh-CN" altLang="en-US" sz="3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263958" y="1448627"/>
            <a:ext cx="9664083" cy="1730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范围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[A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Z][a-z][0-9]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335" y="2161630"/>
            <a:ext cx="9114813" cy="1699984"/>
          </a:xfrm>
          <a:prstGeom prst="rect">
            <a:avLst/>
          </a:prstGeom>
        </p:spPr>
      </p:pic>
      <p:graphicFrame>
        <p:nvGraphicFramePr>
          <p:cNvPr id="2" name="表格 6"/>
          <p:cNvGraphicFramePr>
            <a:graphicFrameLocks noGrp="1"/>
          </p:cNvGraphicFramePr>
          <p:nvPr/>
        </p:nvGraphicFramePr>
        <p:xfrm>
          <a:off x="1552174" y="4445007"/>
          <a:ext cx="8941561" cy="1770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1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4092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r="[A-Z]"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re.search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r,"we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should call it ‘Drenched Blossoms’")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print(match)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319">
                <a:tc>
                  <a:txBody>
                    <a:bodyPr/>
                    <a:lstStyle/>
                    <a:p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&lt;</a:t>
                      </a:r>
                      <a:r>
                        <a:rPr lang="en-US" altLang="zh-CN"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re.Match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 object; span=(19, 20), match='D'&gt;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525709" y="-109526"/>
            <a:ext cx="897657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正则表达式语法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Negation in Disjunction</a:t>
            </a:r>
            <a:endParaRPr lang="zh-CN" altLang="en-US" sz="3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263958" y="1521779"/>
            <a:ext cx="9664083" cy="2346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[^Ss]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^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在方框中表示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后面的字符开头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709" y="2117563"/>
            <a:ext cx="8976573" cy="2056178"/>
          </a:xfrm>
          <a:prstGeom prst="rect">
            <a:avLst/>
          </a:prstGeom>
        </p:spPr>
      </p:pic>
      <p:graphicFrame>
        <p:nvGraphicFramePr>
          <p:cNvPr id="4" name="表格 6"/>
          <p:cNvGraphicFramePr>
            <a:graphicFrameLocks noGrp="1"/>
          </p:cNvGraphicFramePr>
          <p:nvPr/>
        </p:nvGraphicFramePr>
        <p:xfrm>
          <a:off x="1560721" y="4393066"/>
          <a:ext cx="8941561" cy="1770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1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4092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r="[^A-Z]"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re.search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(r,"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Oyfn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pripetchik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")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print(match)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319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en-US" altLang="zh-CN"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re.Match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object; span=(1, 2), match='y'&gt;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144745" y="-109526"/>
            <a:ext cx="93575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正则表达式语法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Negation in Disjunction</a:t>
            </a:r>
            <a:endParaRPr lang="zh-CN" altLang="en-US" sz="3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263957" y="1436558"/>
            <a:ext cx="9664083" cy="2346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[^Ss]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^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在方框中表示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后面的字符开头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957" y="2021239"/>
            <a:ext cx="9093545" cy="2082971"/>
          </a:xfrm>
          <a:prstGeom prst="rect">
            <a:avLst/>
          </a:prstGeom>
        </p:spPr>
      </p:pic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318279" y="4324731"/>
          <a:ext cx="8941561" cy="1770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1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4092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r="[e^]"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re.search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r,"look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up ^ now")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print(match)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319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en-US" altLang="zh-CN"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re.Match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object; span=(8, 9), match='^'&gt;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正则表达式语法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More Disjunction</a:t>
            </a:r>
            <a:endParaRPr lang="zh-CN" altLang="en-US" sz="3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461331" y="1714619"/>
            <a:ext cx="7622848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?    *  +  .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461331" y="2407426"/>
          <a:ext cx="9545652" cy="3450281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377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1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714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Pattern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Matches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148">
                <a:tc>
                  <a:txBody>
                    <a:bodyPr/>
                    <a:lstStyle/>
                    <a:p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colou?r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？前面的可以省略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color</a:t>
                      </a:r>
                      <a:r>
                        <a:rPr lang="en-US" sz="180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1800" u="sng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colour</a:t>
                      </a:r>
                      <a:endParaRPr lang="en-US" sz="1800" u="sng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287">
                <a:tc>
                  <a:txBody>
                    <a:bodyPr/>
                    <a:lstStyle/>
                    <a:p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oo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*h!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*前面的字符可以重复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次或者多次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oh!</a:t>
                      </a:r>
                      <a:r>
                        <a:rPr lang="en-US" sz="180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ooh!</a:t>
                      </a:r>
                      <a:r>
                        <a:rPr lang="en-US" sz="180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1800" u="sng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oooh</a:t>
                      </a:r>
                      <a:r>
                        <a:rPr lang="en-US" sz="180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!</a:t>
                      </a:r>
                      <a:r>
                        <a:rPr lang="en-US" sz="180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u="sng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ooooh</a:t>
                      </a:r>
                      <a:r>
                        <a:rPr lang="en-US" sz="180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!</a:t>
                      </a:r>
                      <a:endParaRPr lang="en-US" sz="1800" u="non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377">
                <a:tc>
                  <a:txBody>
                    <a:bodyPr/>
                    <a:lstStyle/>
                    <a:p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o+h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!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前面的字符可以重复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次或者多次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oh!</a:t>
                      </a:r>
                      <a:r>
                        <a:rPr lang="en-US" sz="180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ooh!</a:t>
                      </a:r>
                      <a:r>
                        <a:rPr lang="en-US" sz="180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1800" u="sng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oooh</a:t>
                      </a:r>
                      <a:r>
                        <a:rPr lang="en-US" sz="180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!</a:t>
                      </a:r>
                      <a:r>
                        <a:rPr lang="en-US" sz="180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u="sng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ooooh</a:t>
                      </a:r>
                      <a:r>
                        <a:rPr lang="en-US" sz="180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!</a:t>
                      </a:r>
                      <a:endParaRPr lang="en-US" sz="1800" u="non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33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baa+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baa</a:t>
                      </a:r>
                      <a:r>
                        <a:rPr lang="en-US" sz="1800" u="non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u="sng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baaa</a:t>
                      </a:r>
                      <a:r>
                        <a:rPr lang="en-US" sz="1800" u="non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u="sng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baaaa</a:t>
                      </a:r>
                      <a:r>
                        <a:rPr lang="en-US" sz="1800" u="non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u="sng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baaaaa</a:t>
                      </a:r>
                      <a:endParaRPr lang="en-US" sz="1800" u="non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377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beg.n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表示统配一个字符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begin </a:t>
                      </a:r>
                      <a:r>
                        <a:rPr lang="en-US" sz="1800" u="sng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begun begun beg3n</a:t>
                      </a:r>
                      <a:endParaRPr lang="en-US" sz="1800" u="non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正则表达式语法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More Disjunction</a:t>
            </a:r>
            <a:endParaRPr lang="zh-CN" altLang="en-US" sz="3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267152" y="1729385"/>
            <a:ext cx="8278500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^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表示以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[]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里面的字符开头，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$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表示以前面字符结尾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708921" y="2623224"/>
          <a:ext cx="8774157" cy="2640357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2615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8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90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Pattern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Matches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994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^[A-Z] 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Palo Alto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531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^[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A-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Za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-z] 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1Hello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551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\.$ 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The end.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377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.$ 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The end?  The end!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匹配一个字符</a:t>
            </a:r>
            <a:endParaRPr lang="zh-CN" altLang="en-US" sz="3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730253" y="2210872"/>
          <a:ext cx="8830718" cy="290558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603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6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76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zh-CN" sz="2000" kern="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字符</a:t>
                      </a:r>
                      <a:endParaRPr lang="zh-CN" altLang="zh-CN" sz="2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zh-CN" sz="2000" kern="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功能</a:t>
                      </a:r>
                      <a:endParaRPr lang="zh-CN" altLang="zh-CN" sz="2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33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.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匹配任意</a:t>
                      </a:r>
                      <a:r>
                        <a:rPr lang="en-US" sz="20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sz="20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个字符（除了</a:t>
                      </a:r>
                      <a:r>
                        <a:rPr lang="en-US" sz="20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\n</a:t>
                      </a:r>
                      <a:r>
                        <a:rPr lang="zh-CN" sz="20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）</a:t>
                      </a:r>
                      <a:endParaRPr lang="zh-CN" sz="2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54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[ ]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匹配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[ ]</a:t>
                      </a: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中列举的字符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839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\d</a:t>
                      </a:r>
                      <a:endParaRPr lang="zh-CN" sz="2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匹配数字，即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0-9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54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\D</a:t>
                      </a:r>
                      <a:endParaRPr lang="zh-CN" sz="2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匹配非数字，即不是数字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匹配多个字符</a:t>
            </a:r>
            <a:endParaRPr lang="zh-CN" altLang="en-US" sz="3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458853" y="1890758"/>
          <a:ext cx="9043430" cy="360590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235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7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650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zh-CN" sz="2000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字符</a:t>
                      </a:r>
                      <a:endParaRPr lang="zh-CN" altLang="zh-CN" sz="2000" kern="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zh-CN" sz="2000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功能</a:t>
                      </a:r>
                      <a:endParaRPr lang="zh-CN" altLang="zh-CN" sz="2000" kern="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28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*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次或者无限次，即可有可无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28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+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次或者无限次，即至少有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次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3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?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次或者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次，即要么有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次，要么没有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3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{m}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次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3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{</a:t>
                      </a:r>
                      <a:r>
                        <a:rPr lang="en-US" sz="2000" kern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m,n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}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匹配前一个字符出现从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到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n</a:t>
                      </a: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次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匹配开头或结尾字符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437911" y="2451036"/>
          <a:ext cx="9248703" cy="1738843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963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5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字符</a:t>
                      </a:r>
                      <a:endParaRPr lang="zh-CN" sz="2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功能</a:t>
                      </a:r>
                      <a:endParaRPr lang="zh-CN" sz="2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287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^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匹配字符串开头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287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$</a:t>
                      </a:r>
                      <a:endParaRPr lang="zh-CN" sz="2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匹配字符串结尾 （到此处结尾，后面没有内容，有内容报错）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如何使用正则表达式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zh-CN" altLang="en-US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2" name="标题 5"/>
          <p:cNvSpPr txBox="1"/>
          <p:nvPr/>
        </p:nvSpPr>
        <p:spPr>
          <a:xfrm>
            <a:off x="1483894" y="2039533"/>
            <a:ext cx="6806704" cy="5182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400" kern="1200" dirty="0">
                <a:solidFill>
                  <a:srgbClr val="468A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例如，找出所有文本中的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the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560721" y="2989855"/>
          <a:ext cx="8941561" cy="1639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1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39298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the    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                               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无法找出大写的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The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tT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]he                                    other 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或者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theology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[^a-</a:t>
                      </a:r>
                      <a:r>
                        <a:rPr lang="en-US" altLang="zh-CN" sz="2000" b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zA</a:t>
                      </a:r>
                      <a:r>
                        <a:rPr lang="en-US" altLang="zh-CN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-Z][</a:t>
                      </a:r>
                      <a:r>
                        <a:rPr lang="en-US" altLang="zh-CN" sz="2000" b="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tT</a:t>
                      </a:r>
                      <a:r>
                        <a:rPr lang="en-US" altLang="zh-CN" sz="20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he</a:t>
                      </a:r>
                      <a:r>
                        <a:rPr lang="en-US" altLang="zh-CN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[^a-</a:t>
                      </a:r>
                      <a:r>
                        <a:rPr lang="en-US" altLang="zh-CN" sz="2000" b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zA</a:t>
                      </a:r>
                      <a:r>
                        <a:rPr lang="en-US" altLang="zh-CN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-Z]</a:t>
                      </a:r>
                      <a:r>
                        <a:rPr lang="en-US" altLang="zh-CN" sz="2000" b="0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找出文本中所有大小写开头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the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re</a:t>
            </a: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模块的方法</a:t>
            </a:r>
            <a:endParaRPr lang="en-US" altLang="zh-CN" sz="3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标题 5"/>
          <p:cNvSpPr txBox="1"/>
          <p:nvPr/>
        </p:nvSpPr>
        <p:spPr>
          <a:xfrm>
            <a:off x="1026705" y="1727199"/>
            <a:ext cx="9664083" cy="494706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400" kern="1200" dirty="0">
                <a:solidFill>
                  <a:srgbClr val="468A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re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提供了正则表达式操作所需要的功能，也可以直接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re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的方法或者把模式编译成正则表达式对象再使用。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第一步，要引入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re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模块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第二步，定义匹配规则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第三步，调用模块函数以列表形式返回匹配到的字符串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 </a:t>
            </a:r>
            <a:endParaRPr lang="en-US" altLang="zh-CN" sz="2000" b="1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31410" y="3228945"/>
            <a:ext cx="9001070" cy="40011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import re 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431410" y="5130801"/>
            <a:ext cx="9001070" cy="141253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=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re.findall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(r,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“要匹配的字符串”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a=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re.findall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网络爬虫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","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学习网络爬虫需要用到正则表达式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")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print(a)  #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[‘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网络爬虫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’]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31410" y="4096266"/>
            <a:ext cx="9001070" cy="40011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r=</a:t>
            </a:r>
            <a:r>
              <a:rPr lang="en-US" altLang="zh-CN" sz="2000" b="1" dirty="0" err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re.compile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(‘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匹配规则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’)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re</a:t>
            </a: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模块的方法</a:t>
            </a:r>
            <a:endParaRPr lang="en-US" altLang="zh-CN" sz="3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9660" y="1619621"/>
            <a:ext cx="10707880" cy="4962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compile (pattern) 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创建模式对象，根据一个模式字符串和可选的标志参数生成一个正则表达式对象。该对象拥有一系列方法用于正则表达式匹配和替换。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pattern=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re.compile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(r’[,./\\?[]\|]’)   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pattern.split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(text)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match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pattern,string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从字符串开始处匹配模式，返回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match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对象或者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None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，或者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compile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对象的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.match(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“要匹配的字符串”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group()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result.group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提取匹配对象的字符串信息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split(</a:t>
            </a:r>
            <a:r>
              <a:rPr lang="en-US" altLang="zh-CN" sz="2000" b="1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pattern,string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：根据模式匹配项分割字符串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sub(</a:t>
            </a:r>
            <a:r>
              <a:rPr lang="en-US" altLang="zh-CN" sz="2000" b="1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pat,repl,string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):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将字符串中所有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pat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的匹配项用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repl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替换，返回新字符串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findall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pattern,string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列出字符串中模式的所有匹配项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在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python</a:t>
            </a: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中如何使用正则表达式</a:t>
            </a:r>
            <a:endParaRPr lang="zh-CN" altLang="en-US" sz="3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743053" y="5850297"/>
            <a:ext cx="5912496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202881" y="2376290"/>
          <a:ext cx="966408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4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4092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hi|hello|hey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)[ ]*([a-z]*)"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re.match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r,"hello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Rose")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print(match)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if match: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   item=list(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match.groups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())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print(item)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319">
                <a:tc>
                  <a:txBody>
                    <a:bodyPr/>
                    <a:lstStyle/>
                    <a:p>
                      <a:pPr lv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en-US" altLang="zh-CN" sz="200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re.Match</a:t>
                      </a:r>
                      <a:r>
                        <a:rPr lang="en-US" altLang="zh-CN" sz="2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object; span=(0, 6), match='hello '&gt;</a:t>
                      </a:r>
                    </a:p>
                    <a:p>
                      <a:pPr lv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['hello', '']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在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python</a:t>
            </a: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中如何使用正则表达式</a:t>
            </a:r>
            <a:endParaRPr lang="zh-CN" altLang="en-US" sz="3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838199" y="1852444"/>
          <a:ext cx="10623242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3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8411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text="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alpha.beta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....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gama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delta"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result=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re.split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('[\.]+',text)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print(result)     #['alpha', 'beta', '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gama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delta']</a:t>
                      </a:r>
                    </a:p>
                    <a:p>
                      <a:endParaRPr lang="en-US" altLang="zh-CN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pat='[a-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zA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-z]+'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result=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re.findall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pat,text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print(result)     #['alpha', 'beta', '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gama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', 'delta'] </a:t>
                      </a:r>
                    </a:p>
                    <a:p>
                      <a:endParaRPr lang="en-US" altLang="zh-CN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pat="{name}"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text="Dear {name}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：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result=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re.sub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pat,"Mr.John",text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print(result)     #Dear 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Mr.John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： </a:t>
                      </a:r>
                    </a:p>
                    <a:p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re.sub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(“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a”,lambda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x:x.group(0).upper(),“aaa 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abc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abde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”) # 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输出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'AAA 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Abc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Abde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'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858703"/>
            <a:ext cx="9144000" cy="997770"/>
          </a:xfrm>
        </p:spPr>
        <p:txBody>
          <a:bodyPr>
            <a:noAutofit/>
          </a:bodyPr>
          <a:lstStyle/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感谢聆听</a:t>
            </a:r>
          </a:p>
        </p:txBody>
      </p:sp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32D91"/>
      </a:accent1>
      <a:accent2>
        <a:srgbClr val="EEB5C7"/>
      </a:accent2>
      <a:accent3>
        <a:srgbClr val="4EA6DC"/>
      </a:accent3>
      <a:accent4>
        <a:srgbClr val="4775E7"/>
      </a:accent4>
      <a:accent5>
        <a:srgbClr val="8971E1"/>
      </a:accent5>
      <a:accent6>
        <a:srgbClr val="C830CC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E32D91"/>
    </a:accent1>
    <a:accent2>
      <a:srgbClr val="EEB5C7"/>
    </a:accent2>
    <a:accent3>
      <a:srgbClr val="4EA6DC"/>
    </a:accent3>
    <a:accent4>
      <a:srgbClr val="4775E7"/>
    </a:accent4>
    <a:accent5>
      <a:srgbClr val="8971E1"/>
    </a:accent5>
    <a:accent6>
      <a:srgbClr val="C830CC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E32D91"/>
    </a:accent1>
    <a:accent2>
      <a:srgbClr val="EEB5C7"/>
    </a:accent2>
    <a:accent3>
      <a:srgbClr val="4EA6DC"/>
    </a:accent3>
    <a:accent4>
      <a:srgbClr val="4775E7"/>
    </a:accent4>
    <a:accent5>
      <a:srgbClr val="8971E1"/>
    </a:accent5>
    <a:accent6>
      <a:srgbClr val="C830CC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2423</Words>
  <Application>Microsoft Office PowerPoint</Application>
  <PresentationFormat>宽屏</PresentationFormat>
  <Paragraphs>371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3" baseType="lpstr">
      <vt:lpstr>-apple-system</vt:lpstr>
      <vt:lpstr>等线</vt:lpstr>
      <vt:lpstr>微软雅黑</vt:lpstr>
      <vt:lpstr>Arial</vt:lpstr>
      <vt:lpstr>Times New Roman</vt:lpstr>
      <vt:lpstr>Office 主题​​</vt:lpstr>
      <vt:lpstr>自然语言处理与实践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正则表达式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感谢聆听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自然语言处理导论</dc:title>
  <dc:creator>angel yang</dc:creator>
  <cp:lastModifiedBy>乐乐 吉</cp:lastModifiedBy>
  <cp:revision>103</cp:revision>
  <dcterms:created xsi:type="dcterms:W3CDTF">2023-05-25T09:38:00Z</dcterms:created>
  <dcterms:modified xsi:type="dcterms:W3CDTF">2025-09-16T09:52:42Z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7E5DDB61503C412989ACAB669D7EC4A7_12</vt:lpwstr>
  </property>
  <property fmtid="{D5CDD505-2E9C-101B-9397-08002B2CF9AE}" pid="3" name="KSOProductBuildVer">
    <vt:lpwstr>2052-12.1.0.19770</vt:lpwstr>
  </property>
</Properties>
</file>